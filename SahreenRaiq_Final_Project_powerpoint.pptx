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280" r:id="rId5"/>
    <p:sldId id="282" r:id="rId6"/>
    <p:sldId id="283" r:id="rId7"/>
    <p:sldId id="288" r:id="rId8"/>
    <p:sldId id="285" r:id="rId9"/>
    <p:sldId id="284" r:id="rId10"/>
    <p:sldId id="286" r:id="rId11"/>
    <p:sldId id="289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E90"/>
    <a:srgbClr val="B0E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92" d="100"/>
          <a:sy n="92" d="100"/>
        </p:scale>
        <p:origin x="77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70DC5-0CF0-46DA-B7CD-EA84285ECC2F}" type="datetimeFigureOut">
              <a:rPr lang="en-CA" smtClean="0"/>
              <a:t>2025-04-07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3C9DF-7CAF-44D4-9762-A5546FA402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2789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question is at the heart of our project. Not just ‘what trends,’ but how creators can use </a:t>
            </a:r>
            <a:r>
              <a:rPr lang="en-US" i="1" dirty="0"/>
              <a:t>evidence</a:t>
            </a:r>
            <a:r>
              <a:rPr lang="en-US" dirty="0"/>
              <a:t> to align with what audiences are actually watching.”</a:t>
            </a:r>
          </a:p>
          <a:p>
            <a:r>
              <a:rPr lang="en-US" dirty="0"/>
              <a:t>“This isn’t just a data dump. It’s a roadmap. Today, I’ll show how aligning content strategy with viewer behavior can help creators trend—not just post.”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3C9DF-7CAF-44D4-9762-A5546FA40258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0009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creators often gravitate toward Entertainment, this data shows that Education and Comedy — though less common — </a:t>
            </a:r>
            <a:r>
              <a:rPr lang="en-US" b="1" dirty="0"/>
              <a:t>stay trending longer</a:t>
            </a:r>
            <a:r>
              <a:rPr lang="en-US" dirty="0"/>
              <a:t>. This tells us it’s not just about what you create, but how </a:t>
            </a:r>
            <a:r>
              <a:rPr lang="en-US" b="1" dirty="0"/>
              <a:t>unique and valuable</a:t>
            </a:r>
            <a:r>
              <a:rPr lang="en-US" dirty="0"/>
              <a:t> it is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3C9DF-7CAF-44D4-9762-A5546FA4025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1754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right here is what most creators miss. They post on Tuesdays because it's familiar — but viewers are </a:t>
            </a:r>
            <a:r>
              <a:rPr lang="en-US" b="1" dirty="0"/>
              <a:t>most active on Fridays</a:t>
            </a:r>
            <a:r>
              <a:rPr lang="en-US" dirty="0"/>
              <a:t>. Aligning upload timing with viewer demand is the strategy behind success.”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3C9DF-7CAF-44D4-9762-A5546FA4025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0923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That way you are not creating the content you are maximizing its reach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3C9DF-7CAF-44D4-9762-A5546FA4025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8889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is the mindset shift.  </a:t>
            </a:r>
          </a:p>
          <a:p>
            <a:r>
              <a:rPr lang="en-US" dirty="0"/>
              <a:t>Trending isn’t luck—it’s a result of **understanding your audience, your content, and you’re timing.**  </a:t>
            </a:r>
          </a:p>
          <a:p>
            <a:r>
              <a:rPr lang="en-US" dirty="0"/>
              <a:t>Creators who use data to guide their strategy will **lead the trend**, instead of chasing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3C9DF-7CAF-44D4-9762-A5546FA4025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8839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data-backed roadmap to YouTube success.”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3C9DF-7CAF-44D4-9762-A5546FA4025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5873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85354-text-question-blog-questions-logo-any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5608" y="145774"/>
            <a:ext cx="4253991" cy="2936828"/>
          </a:xfrm>
        </p:spPr>
        <p:txBody>
          <a:bodyPr>
            <a:normAutofit fontScale="90000"/>
          </a:bodyPr>
          <a:lstStyle/>
          <a:p>
            <a:r>
              <a:rPr lang="en-US" sz="4500" b="1" u="sng" dirty="0"/>
              <a:t>Best Time to Trend on YouTube</a:t>
            </a:r>
            <a:br>
              <a:rPr lang="en-US" sz="4000" b="1" u="sng" dirty="0"/>
            </a:br>
            <a:br>
              <a:rPr lang="en-US" sz="3300" b="1" dirty="0"/>
            </a:br>
            <a:r>
              <a:rPr lang="en-US" sz="1800" b="1" dirty="0">
                <a:latin typeface="Arial Nova Light (subtitle)"/>
              </a:rPr>
              <a:t>For Aspiring YouTube creators</a:t>
            </a:r>
            <a:br>
              <a:rPr lang="en-US" sz="3300" b="1" dirty="0">
                <a:latin typeface="Arial Nova Light (subtitle)"/>
              </a:rPr>
            </a:br>
            <a:endParaRPr lang="en-US" sz="33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7380" y="4144488"/>
            <a:ext cx="4092220" cy="2296069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00000"/>
              </a:lnSpc>
            </a:pPr>
            <a:r>
              <a:rPr lang="en-US" sz="1900" dirty="0">
                <a:solidFill>
                  <a:srgbClr val="5995BE"/>
                </a:solidFill>
              </a:rPr>
              <a:t>A data-driven exploration of which videos trend, when they trend and how creators can use this to their advantage across categories, creators, and time.</a:t>
            </a:r>
          </a:p>
          <a:p>
            <a:pPr algn="l">
              <a:lnSpc>
                <a:spcPct val="100000"/>
              </a:lnSpc>
            </a:pPr>
            <a:r>
              <a:rPr lang="en-US" sz="1900" i="1" dirty="0">
                <a:solidFill>
                  <a:srgbClr val="92D050"/>
                </a:solidFill>
              </a:rPr>
              <a:t>This story follows a new creator’s journey to trending smarter</a:t>
            </a:r>
          </a:p>
          <a:p>
            <a:pPr algn="r">
              <a:lnSpc>
                <a:spcPct val="100000"/>
              </a:lnSpc>
            </a:pPr>
            <a:r>
              <a:rPr lang="en-US" sz="1700" dirty="0">
                <a:solidFill>
                  <a:schemeClr val="tx1">
                    <a:lumMod val="85000"/>
                  </a:schemeClr>
                </a:solidFill>
              </a:rPr>
              <a:t>Sahreen Rafiq</a:t>
            </a:r>
          </a:p>
        </p:txBody>
      </p:sp>
      <p:pic>
        <p:nvPicPr>
          <p:cNvPr id="1026" name="Picture 2" descr="Background Youtube Retro - Gambar gratis di Pixabay - Pixabay">
            <a:extLst>
              <a:ext uri="{FF2B5EF4-FFF2-40B4-BE49-F238E27FC236}">
                <a16:creationId xmlns:a16="http://schemas.microsoft.com/office/drawing/2014/main" id="{80404356-DEB7-4457-70AB-E558621F5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332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D11186-B7CB-EBA4-DB57-A4577310BC36}"/>
              </a:ext>
            </a:extLst>
          </p:cNvPr>
          <p:cNvSpPr txBox="1"/>
          <p:nvPr/>
        </p:nvSpPr>
        <p:spPr>
          <a:xfrm>
            <a:off x="6853395" y="6706181"/>
            <a:ext cx="18644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00" dirty="0"/>
              <a:t>Pixabay.com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A2456A0-13DF-4BA8-9BDD-168E874C4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59537-7C5F-0DB0-C9F2-CB44098B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717" y="241749"/>
            <a:ext cx="9328903" cy="1526646"/>
          </a:xfrm>
        </p:spPr>
        <p:txBody>
          <a:bodyPr>
            <a:normAutofit fontScale="90000"/>
          </a:bodyPr>
          <a:lstStyle/>
          <a:p>
            <a:r>
              <a:rPr lang="en-US" sz="3900" b="1" dirty="0">
                <a:solidFill>
                  <a:srgbClr val="FFFF00"/>
                </a:solidFill>
              </a:rPr>
              <a:t>👉</a:t>
            </a:r>
            <a:r>
              <a:rPr lang="en-US" sz="3900" b="1" dirty="0"/>
              <a:t> How can creators use data to trend smarter?</a:t>
            </a:r>
            <a:br>
              <a:rPr lang="en-US" b="1" dirty="0"/>
            </a:br>
            <a:r>
              <a:rPr lang="en-US" sz="2000" b="1" i="1" dirty="0">
                <a:solidFill>
                  <a:schemeClr val="tx1">
                    <a:lumMod val="85000"/>
                  </a:schemeClr>
                </a:solidFill>
              </a:rPr>
              <a:t>Why Creators Need Strategy, Not Guesswork</a:t>
            </a:r>
            <a:br>
              <a:rPr lang="en-US" sz="2200" dirty="0"/>
            </a:br>
            <a:endParaRPr lang="en-CA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94B742A-DE16-7519-1F98-30528319F9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732" y="2089071"/>
            <a:ext cx="3041289" cy="4004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>
              <a:buNone/>
            </a:pPr>
            <a:endParaRPr lang="en-US" sz="2200" i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👤</a:t>
            </a:r>
            <a:r>
              <a:rPr lang="en-US" sz="2200" dirty="0"/>
              <a:t> </a:t>
            </a:r>
            <a:r>
              <a:rPr lang="en-US" sz="2200" b="1" dirty="0"/>
              <a:t>Step 1: Pick the Right Content</a:t>
            </a: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dirty="0">
                <a:solidFill>
                  <a:srgbClr val="FFC000"/>
                </a:solidFill>
              </a:rPr>
              <a:t>⏱️</a:t>
            </a:r>
            <a:r>
              <a:rPr lang="en-US" sz="2200" dirty="0"/>
              <a:t> </a:t>
            </a:r>
            <a:r>
              <a:rPr lang="en-US" sz="2200" b="1" dirty="0"/>
              <a:t>Step 2: Post at the Right Time</a:t>
            </a:r>
          </a:p>
          <a:p>
            <a:pPr>
              <a:buNone/>
            </a:pPr>
            <a:endParaRPr lang="en-US" sz="2200" b="1" dirty="0"/>
          </a:p>
          <a:p>
            <a:pPr>
              <a:buNone/>
            </a:pPr>
            <a:r>
              <a:rPr lang="en-US" sz="2200" dirty="0">
                <a:solidFill>
                  <a:srgbClr val="FF0000"/>
                </a:solidFill>
              </a:rPr>
              <a:t>📊</a:t>
            </a:r>
            <a:r>
              <a:rPr lang="en-US" sz="2200" b="1" dirty="0"/>
              <a:t>Step 3: Plan around the calendar</a:t>
            </a:r>
          </a:p>
          <a:p>
            <a:pPr>
              <a:buNone/>
            </a:pPr>
            <a:endParaRPr lang="en-US" sz="2200" dirty="0"/>
          </a:p>
          <a:p>
            <a:pPr marL="36900" indent="0">
              <a:buNone/>
            </a:pPr>
            <a:endParaRPr lang="en-US" sz="22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endParaRPr lang="en-US" altLang="en-US" sz="20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BD13E9-AC53-9699-1D9F-D045999AA7BC}"/>
              </a:ext>
            </a:extLst>
          </p:cNvPr>
          <p:cNvSpPr txBox="1"/>
          <p:nvPr/>
        </p:nvSpPr>
        <p:spPr>
          <a:xfrm>
            <a:off x="5191638" y="6316902"/>
            <a:ext cx="64772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solidFill>
                  <a:srgbClr val="90EE90"/>
                </a:solidFill>
              </a:rPr>
              <a:t>YouTube has become a crowded space with over 500 hours of content uploaded every minute.</a:t>
            </a:r>
          </a:p>
          <a:p>
            <a:endParaRPr lang="en-CA" dirty="0"/>
          </a:p>
        </p:txBody>
      </p:sp>
      <p:pic>
        <p:nvPicPr>
          <p:cNvPr id="7" name="Picture 6" descr="A screenshot of a video overview&#10;&#10;AI-generated content may be incorrect.">
            <a:extLst>
              <a:ext uri="{FF2B5EF4-FFF2-40B4-BE49-F238E27FC236}">
                <a16:creationId xmlns:a16="http://schemas.microsoft.com/office/drawing/2014/main" id="{01BE7A5F-F093-C12A-2F72-1BF9C7273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722" y="1439057"/>
            <a:ext cx="8344577" cy="487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4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AB84D-A929-ABBA-0D78-BFA6B773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" y="72888"/>
            <a:ext cx="2220263" cy="4585252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00"/>
                </a:solidFill>
              </a:rPr>
              <a:t>👉 </a:t>
            </a:r>
            <a:r>
              <a:rPr lang="en-US" sz="4000" b="1" dirty="0"/>
              <a:t>Which Content Lasts the Longest?</a:t>
            </a:r>
            <a:br>
              <a:rPr lang="en-US" sz="4000" b="1" dirty="0"/>
            </a:br>
            <a:br>
              <a:rPr lang="en-US" sz="2100" b="1" dirty="0"/>
            </a:br>
            <a:r>
              <a:rPr lang="en-US" sz="1600" i="1" dirty="0">
                <a:solidFill>
                  <a:srgbClr val="90EE90"/>
                </a:solidFill>
              </a:rPr>
              <a:t>Some content lasts longer—and that gives you more time to trend.</a:t>
            </a:r>
            <a:endParaRPr lang="en-CA" sz="1600" b="1" i="1" dirty="0">
              <a:solidFill>
                <a:srgbClr val="90EE9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5DD31-93B2-85EA-3650-CB2B95ABF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4737652"/>
            <a:ext cx="2059709" cy="204746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 marL="36900" indent="0">
              <a:lnSpc>
                <a:spcPct val="90000"/>
              </a:lnSpc>
              <a:buNone/>
            </a:pPr>
            <a:endParaRPr lang="en-US" sz="1900" b="1" dirty="0">
              <a:solidFill>
                <a:srgbClr val="90EE90"/>
              </a:solidFill>
            </a:endParaRPr>
          </a:p>
          <a:p>
            <a:pPr marL="36900" indent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90EE90"/>
                </a:solidFill>
              </a:rPr>
              <a:t>Surprise</a:t>
            </a:r>
            <a:r>
              <a:rPr lang="en-US" sz="1700" b="1" dirty="0"/>
              <a:t>: </a:t>
            </a:r>
            <a:r>
              <a:rPr lang="en-US" sz="1700" dirty="0">
                <a:solidFill>
                  <a:schemeClr val="tx1">
                    <a:lumMod val="85000"/>
                  </a:schemeClr>
                </a:solidFill>
              </a:rPr>
              <a:t>Entertainment, while the most frequently uploaded category, trends for a shorter duration.</a:t>
            </a:r>
          </a:p>
          <a:p>
            <a:pPr marL="36900" indent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90EE90"/>
                </a:solidFill>
              </a:rPr>
              <a:t>I</a:t>
            </a:r>
            <a:r>
              <a:rPr lang="en-US" sz="1900" b="1" dirty="0">
                <a:solidFill>
                  <a:srgbClr val="90EE90"/>
                </a:solidFill>
              </a:rPr>
              <a:t>nsight</a:t>
            </a:r>
            <a:r>
              <a:rPr lang="en-US" sz="1700" b="1" dirty="0"/>
              <a:t>: </a:t>
            </a:r>
            <a:r>
              <a:rPr lang="en-US" sz="1700" dirty="0"/>
              <a:t>Less saturated categories with high value tend to trend longer.</a:t>
            </a:r>
          </a:p>
          <a:p>
            <a:pPr>
              <a:lnSpc>
                <a:spcPct val="90000"/>
              </a:lnSpc>
              <a:buNone/>
            </a:pPr>
            <a:endParaRPr lang="en-US" sz="1000" dirty="0"/>
          </a:p>
        </p:txBody>
      </p:sp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6C5E032E-06D2-7DBD-7274-7037394EA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496" y="0"/>
            <a:ext cx="9922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9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7F5D76-1FEC-470A-B476-70574A89C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3062E-FAB7-3E66-B972-F9A62EDE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33654"/>
            <a:ext cx="10353762" cy="1257300"/>
          </a:xfrm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rgbClr val="FFFF00"/>
                </a:solidFill>
              </a:rPr>
              <a:t>👉</a:t>
            </a:r>
            <a:r>
              <a:rPr lang="en-US" sz="3900" b="1" dirty="0"/>
              <a:t> Why Education Is a Smart Starting Point</a:t>
            </a:r>
            <a:br>
              <a:rPr lang="en-US" sz="3900" b="1" dirty="0"/>
            </a:br>
            <a:endParaRPr lang="en-CA" sz="3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6C517-F54B-38AB-2EDD-E56876C44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48" y="2219824"/>
            <a:ext cx="2823318" cy="3605853"/>
          </a:xfrm>
        </p:spPr>
        <p:txBody>
          <a:bodyPr anchor="ctr">
            <a:normAutofit fontScale="62500" lnSpcReduction="20000"/>
          </a:bodyPr>
          <a:lstStyle/>
          <a:p>
            <a:pPr marL="36900" indent="0">
              <a:lnSpc>
                <a:spcPct val="100000"/>
              </a:lnSpc>
              <a:buNone/>
            </a:pPr>
            <a:r>
              <a:rPr lang="en-US" i="1" dirty="0"/>
              <a:t>Let’s look at why Education gives creators an edge over Comedy or Film &amp; Animation: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Education videos  are easier to produce and it can trend for over 6 days on average — longer than any other category.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Educational content often evergreen, meaning it continue gaining views well beyond the first week. That gives new creator sustained visibility.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It’s also favored by YouTube’s algorithm for being safe, informative, and highly searchable.</a:t>
            </a:r>
          </a:p>
        </p:txBody>
      </p:sp>
      <p:pic>
        <p:nvPicPr>
          <p:cNvPr id="5" name="Picture 4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395170CE-B9DB-10A3-1D7B-15E01D3E2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701" y="1457740"/>
            <a:ext cx="7844386" cy="42804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97BB91-7258-8B74-6FD9-C5C3EEE3372C}"/>
              </a:ext>
            </a:extLst>
          </p:cNvPr>
          <p:cNvSpPr txBox="1"/>
          <p:nvPr/>
        </p:nvSpPr>
        <p:spPr>
          <a:xfrm>
            <a:off x="4215740" y="5825678"/>
            <a:ext cx="77443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New creators should leverage Education to maximize discoverability, build trust, and stay relevant longer.</a:t>
            </a:r>
          </a:p>
          <a:p>
            <a:r>
              <a:rPr lang="en-US" sz="1600" dirty="0">
                <a:solidFill>
                  <a:srgbClr val="90EE90"/>
                </a:solidFill>
              </a:rPr>
              <a:t>E.g., Learn How to Edit Stuff or </a:t>
            </a:r>
            <a:r>
              <a:rPr lang="en-US" sz="1600" dirty="0" err="1">
                <a:solidFill>
                  <a:srgbClr val="90EE90"/>
                </a:solidFill>
              </a:rPr>
              <a:t>AsapSCIENCE</a:t>
            </a:r>
            <a:r>
              <a:rPr lang="en-US" sz="1600" dirty="0">
                <a:solidFill>
                  <a:srgbClr val="90EE90"/>
                </a:solidFill>
              </a:rPr>
              <a:t> — two Canadian educational creators with evergreen content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E6335-CE3D-FC70-BA27-36348C29DCFE}"/>
              </a:ext>
            </a:extLst>
          </p:cNvPr>
          <p:cNvSpPr txBox="1"/>
          <p:nvPr/>
        </p:nvSpPr>
        <p:spPr>
          <a:xfrm>
            <a:off x="3883788" y="5502511"/>
            <a:ext cx="406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CA" b="1" dirty="0"/>
          </a:p>
          <a:p>
            <a:r>
              <a:rPr lang="en-CA" b="1" dirty="0"/>
              <a:t>🧠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B5FCDB1-85F2-E16C-37B1-EB7D65E99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442" y="3482077"/>
            <a:ext cx="3340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🌱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449DA9-B256-2C06-F704-49EA8489A6D2}"/>
              </a:ext>
            </a:extLst>
          </p:cNvPr>
          <p:cNvSpPr txBox="1"/>
          <p:nvPr/>
        </p:nvSpPr>
        <p:spPr>
          <a:xfrm>
            <a:off x="342274" y="2795261"/>
            <a:ext cx="442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📈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AD5030-C560-8507-0AEB-9A28D8F83014}"/>
              </a:ext>
            </a:extLst>
          </p:cNvPr>
          <p:cNvSpPr txBox="1"/>
          <p:nvPr/>
        </p:nvSpPr>
        <p:spPr>
          <a:xfrm>
            <a:off x="396442" y="4954195"/>
            <a:ext cx="477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✅ </a:t>
            </a:r>
          </a:p>
        </p:txBody>
      </p:sp>
    </p:spTree>
    <p:extLst>
      <p:ext uri="{BB962C8B-B14F-4D97-AF65-F5344CB8AC3E}">
        <p14:creationId xmlns:p14="http://schemas.microsoft.com/office/powerpoint/2010/main" val="216721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CCEB25-E2E3-481F-A03A-19767D3E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72246-65EA-5230-978A-A512C8A1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54" y="980611"/>
            <a:ext cx="1925033" cy="3955824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👉 </a:t>
            </a:r>
            <a:r>
              <a:rPr lang="en-US" sz="3000" b="1" dirty="0"/>
              <a:t>Creators Post vs</a:t>
            </a:r>
            <a:br>
              <a:rPr lang="en-US" sz="3000" b="1" dirty="0"/>
            </a:br>
            <a:r>
              <a:rPr lang="en-US" sz="3000" b="1" dirty="0"/>
              <a:t> Viewers  watch</a:t>
            </a:r>
            <a:br>
              <a:rPr lang="en-US" sz="3000" b="1" dirty="0"/>
            </a:br>
            <a:br>
              <a:rPr lang="en-US" sz="1800" b="1" dirty="0">
                <a:solidFill>
                  <a:srgbClr val="90EE90"/>
                </a:solidFill>
              </a:rPr>
            </a:br>
            <a:r>
              <a:rPr lang="en-US" sz="1400" i="1" dirty="0">
                <a:solidFill>
                  <a:srgbClr val="90EE90"/>
                </a:solidFill>
              </a:rPr>
              <a:t>Viewers are active at different times than creators expect. Here's when to post for max visibility</a:t>
            </a:r>
            <a:endParaRPr lang="en-CA" sz="1400" b="1" i="1" dirty="0">
              <a:solidFill>
                <a:srgbClr val="90EE9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</p:spPr>
      </p:pic>
      <p:pic>
        <p:nvPicPr>
          <p:cNvPr id="5" name="Picture 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22F2F631-8B6C-EBF9-7E41-660DA02795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04" b="-1"/>
          <a:stretch/>
        </p:blipFill>
        <p:spPr>
          <a:xfrm>
            <a:off x="2126974" y="11874"/>
            <a:ext cx="10065026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92C6A9-9441-14C3-21E2-9896D3143021}"/>
              </a:ext>
            </a:extLst>
          </p:cNvPr>
          <p:cNvSpPr txBox="1"/>
          <p:nvPr/>
        </p:nvSpPr>
        <p:spPr>
          <a:xfrm>
            <a:off x="8570714" y="4030246"/>
            <a:ext cx="14943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dirty="0">
                <a:solidFill>
                  <a:srgbClr val="002060"/>
                </a:solidFill>
              </a:rPr>
              <a:t>High Viewer Activity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52CC8D-0E01-D902-28A9-5CE37AA3FE20}"/>
              </a:ext>
            </a:extLst>
          </p:cNvPr>
          <p:cNvSpPr txBox="1"/>
          <p:nvPr/>
        </p:nvSpPr>
        <p:spPr>
          <a:xfrm>
            <a:off x="2696236" y="3547747"/>
            <a:ext cx="19869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dirty="0">
                <a:solidFill>
                  <a:srgbClr val="002060"/>
                </a:solidFill>
              </a:rPr>
              <a:t>Most common upload</a:t>
            </a:r>
          </a:p>
        </p:txBody>
      </p:sp>
    </p:spTree>
    <p:extLst>
      <p:ext uri="{BB962C8B-B14F-4D97-AF65-F5344CB8AC3E}">
        <p14:creationId xmlns:p14="http://schemas.microsoft.com/office/powerpoint/2010/main" val="88163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8CDD186-03E3-4AED-BEB6-0B3BEC208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9C8C2-C602-C9B3-D1F3-787EE269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02" y="80960"/>
            <a:ext cx="2569411" cy="397277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FF00"/>
                </a:solidFill>
              </a:rPr>
              <a:t>👉</a:t>
            </a:r>
            <a:r>
              <a:rPr lang="en-US" sz="4000" b="1" dirty="0"/>
              <a:t> When Should You Launch- Your Best Content</a:t>
            </a:r>
            <a:br>
              <a:rPr lang="en-US" sz="2200" b="1" dirty="0"/>
            </a:br>
            <a:r>
              <a:rPr lang="en-US" sz="1800" dirty="0"/>
              <a:t>Viewer engagement changes by season—post smart, not just often</a:t>
            </a:r>
            <a:endParaRPr lang="en-CA" sz="18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745F3-3622-11BD-A7FB-82F2015B7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41" y="3750365"/>
            <a:ext cx="2726633" cy="3026675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buClr>
                <a:srgbClr val="EC7873"/>
              </a:buClr>
              <a:buNone/>
            </a:pPr>
            <a:r>
              <a:rPr lang="en-US" sz="1800" b="1" dirty="0">
                <a:solidFill>
                  <a:srgbClr val="90EE90"/>
                </a:solidFill>
              </a:rPr>
              <a:t>Key Insight: </a:t>
            </a:r>
            <a:r>
              <a:rPr lang="en-US" sz="1600" dirty="0"/>
              <a:t>Viewership </a:t>
            </a:r>
            <a:r>
              <a:rPr lang="en-US" sz="1600" b="1" dirty="0"/>
              <a:t>spikes in July</a:t>
            </a:r>
            <a:r>
              <a:rPr lang="en-US" sz="1600" dirty="0"/>
              <a:t> (2.7M+ views avg) and </a:t>
            </a:r>
            <a:r>
              <a:rPr lang="en-US" sz="1600" b="1" dirty="0"/>
              <a:t>drops in December</a:t>
            </a:r>
            <a:r>
              <a:rPr lang="en-US" sz="1600" dirty="0"/>
              <a:t>.</a:t>
            </a:r>
          </a:p>
          <a:p>
            <a:pPr marL="36900" indent="0">
              <a:lnSpc>
                <a:spcPct val="100000"/>
              </a:lnSpc>
              <a:buClr>
                <a:srgbClr val="EC7873"/>
              </a:buClr>
              <a:buNone/>
            </a:pPr>
            <a:r>
              <a:rPr lang="en-US" sz="1800" b="1" dirty="0">
                <a:solidFill>
                  <a:srgbClr val="90EE90"/>
                </a:solidFill>
              </a:rPr>
              <a:t>Strategy</a:t>
            </a:r>
            <a:r>
              <a:rPr lang="en-US" sz="1800" b="1" dirty="0"/>
              <a:t>:</a:t>
            </a:r>
            <a:r>
              <a:rPr lang="en-US" sz="1800" dirty="0"/>
              <a:t>  </a:t>
            </a:r>
            <a:r>
              <a:rPr lang="en-US" sz="1600" dirty="0"/>
              <a:t>Post your highest-value videos in July, when engagement peaks. Avoid December releases due to audience drop-offs.</a:t>
            </a:r>
            <a:endParaRPr lang="en-CA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CF706DA-13E8-4A4F-9260-551FB8127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FEB4A98C-7648-3A2A-48A8-7EDBE2FA0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366" y="6611779"/>
            <a:ext cx="353506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shows how viewer engagement changes throughout the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2D09C5C7-7A50-E485-FF45-F16A0E538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4212" y="-1"/>
            <a:ext cx="931778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0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EDEE0-C33C-A366-C845-55D01A959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40" y="159025"/>
            <a:ext cx="2081215" cy="3326297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FFFF00"/>
                </a:solidFill>
              </a:rPr>
              <a:t>👉</a:t>
            </a:r>
            <a:r>
              <a:rPr lang="en-US" sz="3000" b="1" dirty="0"/>
              <a:t> Don’t Just Follow Trends—</a:t>
            </a:r>
            <a:br>
              <a:rPr lang="en-US" sz="3000" b="1" dirty="0"/>
            </a:br>
            <a:r>
              <a:rPr lang="en-US" sz="3000" b="1" dirty="0"/>
              <a:t>Create Them</a:t>
            </a:r>
            <a:endParaRPr lang="en-CA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4420-D547-12B4-C7A4-68E5FA53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40" y="4128053"/>
            <a:ext cx="1875183" cy="2729947"/>
          </a:xfrm>
        </p:spPr>
        <p:txBody>
          <a:bodyPr>
            <a:normAutofit fontScale="92500" lnSpcReduction="10000"/>
          </a:bodyPr>
          <a:lstStyle/>
          <a:p>
            <a:pPr marL="36900" indent="0">
              <a:lnSpc>
                <a:spcPct val="100000"/>
              </a:lnSpc>
              <a:buNone/>
            </a:pPr>
            <a:r>
              <a:rPr lang="en-US" sz="1500" b="1" dirty="0"/>
              <a:t>Success on YouTuber  isn’t random. It’s strategic.</a:t>
            </a:r>
          </a:p>
          <a:p>
            <a:pPr marL="36900" indent="0">
              <a:lnSpc>
                <a:spcPct val="100000"/>
              </a:lnSpc>
              <a:buNone/>
            </a:pPr>
            <a:br>
              <a:rPr lang="en-US" sz="1500" dirty="0"/>
            </a:br>
            <a:r>
              <a:rPr lang="en-US" sz="1500" dirty="0"/>
              <a:t>Creators who use data to guide their strategy will “</a:t>
            </a:r>
            <a:r>
              <a:rPr lang="en-US" sz="1500" b="1" dirty="0"/>
              <a:t>lead the trend</a:t>
            </a:r>
            <a:r>
              <a:rPr lang="en-US" sz="1500" dirty="0"/>
              <a:t>, instead of chasing it.”</a:t>
            </a:r>
            <a:endParaRPr lang="en-US" sz="1500" b="1" dirty="0"/>
          </a:p>
          <a:p>
            <a:pPr marL="36900" indent="0">
              <a:lnSpc>
                <a:spcPct val="100000"/>
              </a:lnSpc>
              <a:buNone/>
            </a:pPr>
            <a:r>
              <a:rPr lang="en-US" sz="1500" dirty="0"/>
              <a:t>    </a:t>
            </a:r>
          </a:p>
          <a:p>
            <a:pPr marL="36900" indent="0">
              <a:lnSpc>
                <a:spcPct val="100000"/>
              </a:lnSpc>
              <a:buNone/>
            </a:pPr>
            <a:endParaRPr lang="en-US" sz="1500" dirty="0"/>
          </a:p>
          <a:p>
            <a:pPr marL="36900" indent="0">
              <a:lnSpc>
                <a:spcPct val="100000"/>
              </a:lnSpc>
              <a:buNone/>
            </a:pPr>
            <a:endParaRPr lang="en-US" sz="1500" dirty="0"/>
          </a:p>
        </p:txBody>
      </p: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9645450-733D-8678-1359-9E94C170B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217" y="0"/>
            <a:ext cx="10104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01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0FC6-3DFD-2A46-C228-29A4824E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👉 </a:t>
            </a:r>
            <a:r>
              <a:rPr lang="en-US" dirty="0"/>
              <a:t>What Should You Do Now?</a:t>
            </a:r>
            <a:br>
              <a:rPr lang="en-US" dirty="0"/>
            </a:br>
            <a:r>
              <a:rPr lang="en-US" sz="2000" dirty="0"/>
              <a:t>Turn insights into action with a smart, data-backed launch plan</a:t>
            </a:r>
            <a:endParaRPr lang="en-CA" sz="20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0B073C-34DB-7845-FA7B-D00F1796A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7123" y="2650732"/>
            <a:ext cx="3300984" cy="764782"/>
          </a:xfrm>
        </p:spPr>
        <p:txBody>
          <a:bodyPr/>
          <a:lstStyle/>
          <a:p>
            <a:r>
              <a:rPr lang="en-CA" b="1" dirty="0">
                <a:solidFill>
                  <a:srgbClr val="00B0F0"/>
                </a:solidFill>
              </a:rPr>
              <a:t>Pick the Right 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0EEE704-3C98-4508-422F-EE1E97D3EF8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5" y="3459867"/>
            <a:ext cx="3300984" cy="2228414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800" dirty="0"/>
              <a:t>Start with </a:t>
            </a:r>
            <a:r>
              <a:rPr lang="en-CA" sz="1800" b="1" dirty="0">
                <a:solidFill>
                  <a:srgbClr val="90EE90"/>
                </a:solidFill>
              </a:rPr>
              <a:t>Education</a:t>
            </a:r>
            <a:r>
              <a:rPr lang="en-CA" sz="1800" dirty="0"/>
              <a:t> to trend longer.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800" dirty="0"/>
              <a:t>Focus on tutorials, How-</a:t>
            </a:r>
            <a:r>
              <a:rPr lang="en-CA" sz="1800" dirty="0" err="1"/>
              <a:t>tos</a:t>
            </a:r>
            <a:r>
              <a:rPr lang="en-CA" sz="1800" dirty="0"/>
              <a:t>, or explainers- content that’s evergreen and searchable.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28F268D-029C-B959-2208-2DB95435C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6711" y="2633350"/>
            <a:ext cx="3300984" cy="764783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Post at the Right Time</a:t>
            </a:r>
            <a:endParaRPr lang="en-CA" b="1" dirty="0">
              <a:solidFill>
                <a:srgbClr val="00B0F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7D0F963-89A6-95DC-E17E-355D2EFB365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6711" y="3459867"/>
            <a:ext cx="3300984" cy="1836528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800" b="1" dirty="0">
                <a:solidFill>
                  <a:srgbClr val="90EE90"/>
                </a:solidFill>
              </a:rPr>
              <a:t>Fridays</a:t>
            </a:r>
            <a:r>
              <a:rPr lang="en-CA" sz="1800" dirty="0"/>
              <a:t> = highest viewer activity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Avoid </a:t>
            </a:r>
            <a:r>
              <a:rPr lang="en-US" sz="1800" b="1" dirty="0">
                <a:solidFill>
                  <a:srgbClr val="90EE90"/>
                </a:solidFill>
              </a:rPr>
              <a:t>Tuesdays</a:t>
            </a:r>
            <a:r>
              <a:rPr lang="en-US" sz="1800" dirty="0"/>
              <a:t>, where videos get lost.</a:t>
            </a:r>
            <a:endParaRPr lang="en-CA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8DCD2B7-265C-A075-8C64-7A3503BC9A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6571" y="2644381"/>
            <a:ext cx="3611870" cy="764782"/>
          </a:xfrm>
        </p:spPr>
        <p:txBody>
          <a:bodyPr/>
          <a:lstStyle/>
          <a:p>
            <a:r>
              <a:rPr lang="en-CA" b="1" dirty="0">
                <a:solidFill>
                  <a:srgbClr val="00B0F0"/>
                </a:solidFill>
              </a:rPr>
              <a:t>Plan Around the Calendar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57DB2B7-919C-FD10-D4F8-3596E7237802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66572" y="3568211"/>
            <a:ext cx="3611869" cy="252383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Launch </a:t>
            </a:r>
            <a:r>
              <a:rPr lang="en-US" sz="1800" b="1" dirty="0"/>
              <a:t>your best content in </a:t>
            </a:r>
            <a:r>
              <a:rPr lang="en-US" sz="1800" b="1" dirty="0">
                <a:solidFill>
                  <a:srgbClr val="90EE90"/>
                </a:solidFill>
              </a:rPr>
              <a:t>July</a:t>
            </a:r>
            <a:r>
              <a:rPr lang="en-US" sz="1800" dirty="0"/>
              <a:t> Avoid </a:t>
            </a:r>
            <a:r>
              <a:rPr lang="en-US" sz="1800" b="1" dirty="0">
                <a:solidFill>
                  <a:srgbClr val="90EE90"/>
                </a:solidFill>
              </a:rPr>
              <a:t>major drops in December</a:t>
            </a:r>
            <a:r>
              <a:rPr lang="en-US" sz="1800" dirty="0"/>
              <a:t>,.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Use seasonality to stay ahead of the trend curve.</a:t>
            </a:r>
            <a:endParaRPr lang="en-CA" sz="1800" dirty="0"/>
          </a:p>
        </p:txBody>
      </p:sp>
      <p:pic>
        <p:nvPicPr>
          <p:cNvPr id="3" name="Picture 2" descr="Arrow in a bulls eye">
            <a:extLst>
              <a:ext uri="{FF2B5EF4-FFF2-40B4-BE49-F238E27FC236}">
                <a16:creationId xmlns:a16="http://schemas.microsoft.com/office/drawing/2014/main" id="{982A0380-AB21-E872-A772-9765DF76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505" y="1707862"/>
            <a:ext cx="1150818" cy="989804"/>
          </a:xfrm>
          <a:prstGeom prst="rect">
            <a:avLst/>
          </a:prstGeom>
        </p:spPr>
      </p:pic>
      <p:grpSp>
        <p:nvGrpSpPr>
          <p:cNvPr id="6" name="Graphic 4" descr="Bar chart with solid fill">
            <a:extLst>
              <a:ext uri="{FF2B5EF4-FFF2-40B4-BE49-F238E27FC236}">
                <a16:creationId xmlns:a16="http://schemas.microsoft.com/office/drawing/2014/main" id="{07345CAA-0EBF-3BF5-B881-9B20DBD6AA59}"/>
              </a:ext>
            </a:extLst>
          </p:cNvPr>
          <p:cNvGrpSpPr/>
          <p:nvPr/>
        </p:nvGrpSpPr>
        <p:grpSpPr>
          <a:xfrm>
            <a:off x="5238039" y="1986642"/>
            <a:ext cx="906104" cy="701111"/>
            <a:chOff x="5238039" y="1986642"/>
            <a:chExt cx="906104" cy="701111"/>
          </a:xfrm>
          <a:solidFill>
            <a:schemeClr val="lt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DFCFD62-A92E-A009-45F8-FE20BA98DE06}"/>
                </a:ext>
              </a:extLst>
            </p:cNvPr>
            <p:cNvSpPr/>
            <p:nvPr/>
          </p:nvSpPr>
          <p:spPr>
            <a:xfrm>
              <a:off x="5238039" y="1986642"/>
              <a:ext cx="906104" cy="701111"/>
            </a:xfrm>
            <a:custGeom>
              <a:avLst/>
              <a:gdLst>
                <a:gd name="connsiteX0" fmla="*/ 826154 w 906104"/>
                <a:gd name="connsiteY0" fmla="*/ 0 h 701111"/>
                <a:gd name="connsiteX1" fmla="*/ 906104 w 906104"/>
                <a:gd name="connsiteY1" fmla="*/ 0 h 701111"/>
                <a:gd name="connsiteX2" fmla="*/ 906104 w 906104"/>
                <a:gd name="connsiteY2" fmla="*/ 701111 h 701111"/>
                <a:gd name="connsiteX3" fmla="*/ 0 w 906104"/>
                <a:gd name="connsiteY3" fmla="*/ 701111 h 701111"/>
                <a:gd name="connsiteX4" fmla="*/ 0 w 906104"/>
                <a:gd name="connsiteY4" fmla="*/ 639248 h 701111"/>
                <a:gd name="connsiteX5" fmla="*/ 826154 w 906104"/>
                <a:gd name="connsiteY5" fmla="*/ 639248 h 70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104" h="701111">
                  <a:moveTo>
                    <a:pt x="826154" y="0"/>
                  </a:moveTo>
                  <a:lnTo>
                    <a:pt x="906104" y="0"/>
                  </a:lnTo>
                  <a:lnTo>
                    <a:pt x="906104" y="701111"/>
                  </a:lnTo>
                  <a:lnTo>
                    <a:pt x="0" y="701111"/>
                  </a:lnTo>
                  <a:lnTo>
                    <a:pt x="0" y="639248"/>
                  </a:lnTo>
                  <a:lnTo>
                    <a:pt x="826154" y="639248"/>
                  </a:lnTo>
                  <a:close/>
                </a:path>
              </a:pathLst>
            </a:custGeom>
            <a:solidFill>
              <a:schemeClr val="lt1"/>
            </a:solidFill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DD4C0-6058-26B9-8DE7-0B2B917A3FA1}"/>
                </a:ext>
              </a:extLst>
            </p:cNvPr>
            <p:cNvSpPr/>
            <p:nvPr/>
          </p:nvSpPr>
          <p:spPr>
            <a:xfrm>
              <a:off x="5837667" y="2203162"/>
              <a:ext cx="146575" cy="360866"/>
            </a:xfrm>
            <a:custGeom>
              <a:avLst/>
              <a:gdLst>
                <a:gd name="connsiteX0" fmla="*/ 0 w 146575"/>
                <a:gd name="connsiteY0" fmla="*/ 0 h 360866"/>
                <a:gd name="connsiteX1" fmla="*/ 146576 w 146575"/>
                <a:gd name="connsiteY1" fmla="*/ 0 h 360866"/>
                <a:gd name="connsiteX2" fmla="*/ 146576 w 146575"/>
                <a:gd name="connsiteY2" fmla="*/ 360866 h 360866"/>
                <a:gd name="connsiteX3" fmla="*/ 0 w 146575"/>
                <a:gd name="connsiteY3" fmla="*/ 360866 h 360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75" h="360866">
                  <a:moveTo>
                    <a:pt x="0" y="0"/>
                  </a:moveTo>
                  <a:lnTo>
                    <a:pt x="146576" y="0"/>
                  </a:lnTo>
                  <a:lnTo>
                    <a:pt x="146576" y="360866"/>
                  </a:lnTo>
                  <a:lnTo>
                    <a:pt x="0" y="360866"/>
                  </a:lnTo>
                  <a:close/>
                </a:path>
              </a:pathLst>
            </a:custGeom>
            <a:solidFill>
              <a:schemeClr val="lt1"/>
            </a:solidFill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3D42C94-EF6F-442B-65F4-FA660BECEDB8}"/>
                </a:ext>
              </a:extLst>
            </p:cNvPr>
            <p:cNvSpPr/>
            <p:nvPr/>
          </p:nvSpPr>
          <p:spPr>
            <a:xfrm>
              <a:off x="5637791" y="1986642"/>
              <a:ext cx="146575" cy="577385"/>
            </a:xfrm>
            <a:custGeom>
              <a:avLst/>
              <a:gdLst>
                <a:gd name="connsiteX0" fmla="*/ 0 w 146575"/>
                <a:gd name="connsiteY0" fmla="*/ 0 h 577385"/>
                <a:gd name="connsiteX1" fmla="*/ 146576 w 146575"/>
                <a:gd name="connsiteY1" fmla="*/ 0 h 577385"/>
                <a:gd name="connsiteX2" fmla="*/ 146576 w 146575"/>
                <a:gd name="connsiteY2" fmla="*/ 577386 h 577385"/>
                <a:gd name="connsiteX3" fmla="*/ 0 w 146575"/>
                <a:gd name="connsiteY3" fmla="*/ 577386 h 577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75" h="577385">
                  <a:moveTo>
                    <a:pt x="0" y="0"/>
                  </a:moveTo>
                  <a:lnTo>
                    <a:pt x="146576" y="0"/>
                  </a:lnTo>
                  <a:lnTo>
                    <a:pt x="146576" y="577386"/>
                  </a:lnTo>
                  <a:lnTo>
                    <a:pt x="0" y="577386"/>
                  </a:lnTo>
                  <a:close/>
                </a:path>
              </a:pathLst>
            </a:custGeom>
            <a:solidFill>
              <a:schemeClr val="lt1"/>
            </a:solidFill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EA98665-E6E1-419E-F06A-0D8E373ACF5D}"/>
                </a:ext>
              </a:extLst>
            </p:cNvPr>
            <p:cNvSpPr/>
            <p:nvPr/>
          </p:nvSpPr>
          <p:spPr>
            <a:xfrm>
              <a:off x="5437915" y="2203162"/>
              <a:ext cx="146575" cy="360866"/>
            </a:xfrm>
            <a:custGeom>
              <a:avLst/>
              <a:gdLst>
                <a:gd name="connsiteX0" fmla="*/ 0 w 146575"/>
                <a:gd name="connsiteY0" fmla="*/ 0 h 360866"/>
                <a:gd name="connsiteX1" fmla="*/ 146576 w 146575"/>
                <a:gd name="connsiteY1" fmla="*/ 0 h 360866"/>
                <a:gd name="connsiteX2" fmla="*/ 146576 w 146575"/>
                <a:gd name="connsiteY2" fmla="*/ 360866 h 360866"/>
                <a:gd name="connsiteX3" fmla="*/ 0 w 146575"/>
                <a:gd name="connsiteY3" fmla="*/ 360866 h 360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75" h="360866">
                  <a:moveTo>
                    <a:pt x="0" y="0"/>
                  </a:moveTo>
                  <a:lnTo>
                    <a:pt x="146576" y="0"/>
                  </a:lnTo>
                  <a:lnTo>
                    <a:pt x="146576" y="360866"/>
                  </a:lnTo>
                  <a:lnTo>
                    <a:pt x="0" y="360866"/>
                  </a:lnTo>
                  <a:close/>
                </a:path>
              </a:pathLst>
            </a:custGeom>
            <a:solidFill>
              <a:schemeClr val="lt1"/>
            </a:solidFill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407846-2F4F-87D4-269B-F043DEB7D5E3}"/>
                </a:ext>
              </a:extLst>
            </p:cNvPr>
            <p:cNvSpPr/>
            <p:nvPr/>
          </p:nvSpPr>
          <p:spPr>
            <a:xfrm>
              <a:off x="5238039" y="2378439"/>
              <a:ext cx="146575" cy="185588"/>
            </a:xfrm>
            <a:custGeom>
              <a:avLst/>
              <a:gdLst>
                <a:gd name="connsiteX0" fmla="*/ 0 w 146575"/>
                <a:gd name="connsiteY0" fmla="*/ 0 h 185588"/>
                <a:gd name="connsiteX1" fmla="*/ 146576 w 146575"/>
                <a:gd name="connsiteY1" fmla="*/ 0 h 185588"/>
                <a:gd name="connsiteX2" fmla="*/ 146576 w 146575"/>
                <a:gd name="connsiteY2" fmla="*/ 185588 h 185588"/>
                <a:gd name="connsiteX3" fmla="*/ 0 w 146575"/>
                <a:gd name="connsiteY3" fmla="*/ 185588 h 1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75" h="185588">
                  <a:moveTo>
                    <a:pt x="0" y="0"/>
                  </a:moveTo>
                  <a:lnTo>
                    <a:pt x="146576" y="0"/>
                  </a:lnTo>
                  <a:lnTo>
                    <a:pt x="146576" y="185588"/>
                  </a:lnTo>
                  <a:lnTo>
                    <a:pt x="0" y="185588"/>
                  </a:lnTo>
                  <a:close/>
                </a:path>
              </a:pathLst>
            </a:custGeom>
            <a:solidFill>
              <a:schemeClr val="lt1"/>
            </a:solidFill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</p:grpSp>
      <p:sp>
        <p:nvSpPr>
          <p:cNvPr id="12" name="Rectangle 11" descr="Calendar dates">
            <a:extLst>
              <a:ext uri="{FF2B5EF4-FFF2-40B4-BE49-F238E27FC236}">
                <a16:creationId xmlns:a16="http://schemas.microsoft.com/office/drawing/2014/main" id="{6FFBDAB8-CB9E-ECA4-18CD-7098351D2318}"/>
              </a:ext>
            </a:extLst>
          </p:cNvPr>
          <p:cNvSpPr/>
          <p:nvPr/>
        </p:nvSpPr>
        <p:spPr>
          <a:xfrm>
            <a:off x="9023078" y="1790109"/>
            <a:ext cx="1150818" cy="97045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000" r="-2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4A624-FF79-5BBC-2B24-1508BB2F1E34}"/>
              </a:ext>
            </a:extLst>
          </p:cNvPr>
          <p:cNvSpPr txBox="1"/>
          <p:nvPr/>
        </p:nvSpPr>
        <p:spPr>
          <a:xfrm>
            <a:off x="4514995" y="6344634"/>
            <a:ext cx="60979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500" dirty="0">
                <a:solidFill>
                  <a:srgbClr val="FFC000"/>
                </a:solidFill>
              </a:rPr>
              <a:t>THANKYOU..!</a:t>
            </a:r>
          </a:p>
        </p:txBody>
      </p:sp>
    </p:spTree>
    <p:extLst>
      <p:ext uri="{BB962C8B-B14F-4D97-AF65-F5344CB8AC3E}">
        <p14:creationId xmlns:p14="http://schemas.microsoft.com/office/powerpoint/2010/main" val="313174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03C6-29FD-4422-4F95-32C726BF2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13722"/>
            <a:ext cx="4967241" cy="2573781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endParaRPr lang="en-CA" sz="4000" dirty="0"/>
          </a:p>
          <a:p>
            <a:pPr marL="36900" indent="0" algn="ctr">
              <a:buNone/>
            </a:pPr>
            <a:r>
              <a:rPr lang="en-CA" sz="4000" dirty="0"/>
              <a:t>   Questions..?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2D2705-044B-0ECB-5ED4-6F6E81A11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7891" y="213626"/>
            <a:ext cx="11271183" cy="6430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7FF4BC-7ACE-1E03-41C9-D20097AFB384}"/>
              </a:ext>
            </a:extLst>
          </p:cNvPr>
          <p:cNvSpPr txBox="1"/>
          <p:nvPr/>
        </p:nvSpPr>
        <p:spPr>
          <a:xfrm>
            <a:off x="1631049" y="6644374"/>
            <a:ext cx="8929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>
                <a:hlinkClick r:id="rId3" tooltip="https://freepngimg.com/png/85354-text-question-blog-questions-logo-any"/>
              </a:rPr>
              <a:t>This Photo</a:t>
            </a:r>
            <a:r>
              <a:rPr lang="en-CA" sz="900" dirty="0"/>
              <a:t> by Unknown Author is licensed under CC BY-NC</a:t>
            </a:r>
          </a:p>
        </p:txBody>
      </p:sp>
    </p:spTree>
    <p:extLst>
      <p:ext uri="{BB962C8B-B14F-4D97-AF65-F5344CB8AC3E}">
        <p14:creationId xmlns:p14="http://schemas.microsoft.com/office/powerpoint/2010/main" val="1500122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Green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71af3243-3dd4-4a8d-8c0d-dd76da1f02a5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</TotalTime>
  <Words>758</Words>
  <Application>Microsoft Office PowerPoint</Application>
  <PresentationFormat>Widescreen</PresentationFormat>
  <Paragraphs>72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Arial Nova</vt:lpstr>
      <vt:lpstr>Arial Nova Light</vt:lpstr>
      <vt:lpstr>Arial Nova Light (subtitle)</vt:lpstr>
      <vt:lpstr>Wingdings 2</vt:lpstr>
      <vt:lpstr>SlateVTI</vt:lpstr>
      <vt:lpstr>Best Time to Trend on YouTube  For Aspiring YouTube creators </vt:lpstr>
      <vt:lpstr>👉 How can creators use data to trend smarter? Why Creators Need Strategy, Not Guesswork </vt:lpstr>
      <vt:lpstr>👉 Which Content Lasts the Longest?  Some content lasts longer—and that gives you more time to trend.</vt:lpstr>
      <vt:lpstr>👉 Why Education Is a Smart Starting Point </vt:lpstr>
      <vt:lpstr>👉 Creators Post vs  Viewers  watch  Viewers are active at different times than creators expect. Here's when to post for max visibility</vt:lpstr>
      <vt:lpstr>👉 When Should You Launch- Your Best Content Viewer engagement changes by season—post smart, not just often</vt:lpstr>
      <vt:lpstr>👉 Don’t Just Follow Trends— Create Them</vt:lpstr>
      <vt:lpstr>👉 What Should You Do Now? Turn insights into action with a smart, data-backed launch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Sahreen Rafiq</dc:creator>
  <cp:lastModifiedBy>Sahreen Rafiq</cp:lastModifiedBy>
  <cp:revision>24</cp:revision>
  <dcterms:created xsi:type="dcterms:W3CDTF">2025-04-01T16:38:34Z</dcterms:created>
  <dcterms:modified xsi:type="dcterms:W3CDTF">2025-04-07T18:19:52Z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